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29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29"/>
        <p:guide pos="2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各位老师好。我汇报的题目是《基于个性化模态门控与抗坍缩融合的多模态点击率预测方法》，简称 ACMF-PMG-DIN。这是 WWW2025 MM-CTR 挑战赛 Task2 的方案，最终在 Codabench 官方测试集上取得 0.9853 的 AUC，排行榜第 13 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任务是多模态点击率预测：给定用户历史行为，以及目标物品的文本、图像、属性和预训练 item embedding，预测点击概率。赛题有几个硬约束——只能用单一神经网络、不用外部数据、不做模型集成，Task1 的表征作为固定输入。评价用两个指标：AUC 衡量排序能力，越大越好；Logloss 衡量概率校准，越小越好。我们要学习的就是下面这样一个端到端映射。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说动机。短视频物品天然是多模态的，但不同样本依赖的模态并不一样——有的点击靠属性，有的更靠内容语义或视觉。如果直接把各模态拼在一起，训练时强模态会支配预测，其它模态被淹没。所以我们的核心思路是从“能融合”升级到“会选择”：对每个样本单独决定看重哪个模态，同时缓解门控过度集中的“坍缩”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这是整体框架。蓝色是主路径：DIN 目标注意力先根据候选物品聚合用户历史兴趣，个性化门控再为每个样本分配模态权重，加权融合后送入 DNN 得到主 logit。绿色是门控模块，橙色是我们提出的 ACMF 抗坍缩融合，作为辅助路径。四个模块端到端联合训练。右边是四步导读，下面我重点讲两个核心模块。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模块一是个性化门控加先验平滑。左边三步：DIN 注意力得到用户兴趣；把兴趣、目标物品和模态表示拼起来过一个 MLP 加 softmax，得到个性化门控 g_p；但我们发现 g_p 会坍缩——如下面左图，权重几乎全压到属性模态。于是引入先验平滑，用固定系数 λ 等于 0.5，把它和均匀先验混合。平滑后如右图，属性降到约 0.62，其余三个模态各保留约 0.12，让非主导模态也能参与。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模块二是 ACMF，由两部分组成。MDS 是模态级深监督：给每个模态单独接一个 logit head，加一个辅助损失，让每个模态都获得独立的训练梯度，但并不要求它单独完成预测。ELF 是早晚互补融合：用可学习权重 π 把这些单模态 logit 加权成 late logit，再以系数 α 叠加到主路径；α 初始为 0，保证训练起点严格等价于只用主路径。两者组合，就缓解了非主导模态在训练和预测中的边缘化。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实验设置：数据是 MicroLens-1M，训练 360 万条、验证 1 万条，做 Task2 的 CTR 预测。优化器 Adam、学习率 0.001、batch 1024，最多 100 个 epoch，用验证集 AUC 做早停，硬件是单张 4090。我们比较三个递进模型：基线 PMG-DIN、加先验平滑的 PS-PMG-DIN，以及最终的 ACMF-PMG-DIN。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主实验结果：从 PMG-DIN 到 PS-PMG-DIN 再到最终模型，AUC 从 0.9812 提升到 0.9826，Logloss 从 0.1847 降到 0.1547。相对基线，AUC 提升约 0.0014、Logloss 下降约 0.03；相对 PS-PMG-DIN 也同步改善。说明我们的方法在提升排序的同时也改善了概率校准，两个指标同向变好。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组件消融回答“为什么是 MDS 加 ELF”。图里横轴是 Logloss、纵轴是 AUC，左上绿色区是更优方向。可以看到：MDS 单独用能拉高 AUC，但会推高 Logloss，也就是概率过度自信；ELF 单独用又需要 MDS 来稳定支撑。只有 MDS 加 ELF 组合，才落在左上更优区、最接近 Pareto 前沿。而加了 MDrop 的 FULL 版本正则太强反而变差，所以最终采用 MDS 加 ELF。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模态贡献分析：逐个去掉模态看指标变化。去掉文本或图像，AUC 几乎不变，但 Logloss 明显变差；去掉属性，AUC 从 0.98 掉到 0.97，Logloss 从 0.15 飙到 0.63。说明属性是当前数据集最关键的判别信号，文本和图像更多是在概率校准层面起作用。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再看两个内部分析。左边是门控分布热力图：平滑前属性权重是 1、其余是 0，平滑后变成属性主导、其余保留，验证了先验平滑的作用。右边是晚期融合各模态的权重，分布比较均衡，加上 α 本身较小，说明 late 分支只是做轻量修正，点击信号主要还是靠 DIN 用户兴趣和主路径承载。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总结一下：我们围绕“兴趣建模、模态选择、抗坍缩融合”三点设计了 ACMF-PMG-DIN，在 AUC 和 Logloss 上都优于基线，MDS 和 ELF 互补协同。局限方面，单模态 logit 还不是强分类器，ACMF 更像轻量辅助机制；序列主干仍是 DIN，未来可以探索更强的序列模型和跨数据集泛化。最终模型验证集 AUC 0.9826，Codabench 测试集 0.9853，排行榜第 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以上就是我的全部汇报，谢谢各位老师，欢迎提问。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0714"/>
            <a:ext cx="1920240" cy="528458"/>
          </a:xfrm>
          <a:prstGeom prst="rect">
            <a:avLst/>
          </a:prstGeom>
        </p:spPr>
      </p:pic>
      <p:pic>
        <p:nvPicPr>
          <p:cNvPr id="3" name="Picture 2" descr="logo_adm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210" y="457200"/>
            <a:ext cx="439366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基于个性化模态门控与抗坍缩融合的</a:t>
            </a:r>
            <a:endParaRPr sz="33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多模态点击率预测方法</a:t>
            </a:r>
            <a:endParaRPr sz="33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/>
              </a:rPr>
              <a:t>ACMF-PMG-DIN for Multimodal CTR Prediction</a:t>
            </a:r>
            <a:endParaRPr sz="1800" b="1">
              <a:solidFill>
                <a:srgbClr val="536CB4"/>
              </a:solidFill>
              <a:latin typeface="华文中宋" panose="02010600040101010101" charset="-122"/>
              <a:ea typeface="华文中宋" panose="02010600040101010101" charset="-122"/>
              <a:cs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数学建模大作业 · WWW2025 MM-CTR Challenge (Task 2)</a:t>
            </a:r>
            <a:endParaRPr sz="15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2451951    于沛可</a:t>
            </a:r>
            <a:endParaRPr sz="1500" b="1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13048" y="525780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FBECEF"/>
          </a:solidFill>
          <a:ln w="15240">
            <a:solidFill>
              <a:srgbClr val="D7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3048" y="5257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Codabench 测试集 AUC 0.9853 · 榜单第 13 名</a:t>
            </a:r>
            <a:endParaRPr sz="1350" b="1">
              <a:solidFill>
                <a:srgbClr val="D766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研究问题：多模态 CTR 预测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2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1097280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目标：</a:t>
            </a:r>
            <a:r>
              <a:rPr sz="15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给定用户历史行为与目标物品的多模态信息，预测点击概率 pCTR</a:t>
            </a:r>
            <a:endParaRPr sz="15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429000" cy="457200"/>
          </a:xfrm>
          <a:prstGeom prst="roundRect">
            <a:avLst>
              <a:gd name="adj" fmla="val 5000"/>
            </a:avLst>
          </a:prstGeom>
          <a:solidFill>
            <a:srgbClr val="53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2011680"/>
            <a:ext cx="3429000" cy="228600"/>
          </a:xfrm>
          <a:prstGeom prst="rect">
            <a:avLst/>
          </a:prstGeom>
          <a:solidFill>
            <a:srgbClr val="53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01368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输入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1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用户历史行为序列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H</a:t>
            </a:r>
            <a:r>
              <a:rPr sz="970" b="0" baseline="-2500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u</a:t>
            </a:r>
            <a:endParaRPr sz="970" b="0" baseline="-2500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目标物品 i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文本 / 图像 / 属性特征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预训练 item embedding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9976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9976" y="1783080"/>
            <a:ext cx="3429000" cy="457200"/>
          </a:xfrm>
          <a:prstGeom prst="roundRect">
            <a:avLst>
              <a:gd name="adj" fmla="val 5000"/>
            </a:avLst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79976" y="2011680"/>
            <a:ext cx="3429000" cy="22860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62856" y="1801368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核心约束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4296" y="2468880"/>
            <a:ext cx="29260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单一神经网络预测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不使用赛题外部数据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不使用模型集成 (ensemble)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Task1 表征作为固定输入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19872" y="1783080"/>
            <a:ext cx="3429000" cy="278892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19872" y="1783080"/>
            <a:ext cx="3429000" cy="457200"/>
          </a:xfrm>
          <a:prstGeom prst="roundRect">
            <a:avLst>
              <a:gd name="adj" fmla="val 5000"/>
            </a:avLst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119872" y="2011680"/>
            <a:ext cx="3429000" cy="228600"/>
          </a:xfrm>
          <a:prstGeom prst="rect">
            <a:avLst/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02752" y="1801368"/>
            <a:ext cx="3063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评价指标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66760" y="2441448"/>
            <a:ext cx="2926080" cy="896112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0" y="2496312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</a:t>
            </a:r>
            <a:r>
              <a:rPr sz="12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排序判别力</a:t>
            </a:r>
            <a:endParaRPr sz="12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↑ 越大越好</a:t>
            </a:r>
            <a:endParaRPr sz="120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366760" y="3474720"/>
            <a:ext cx="2926080" cy="896112"/>
          </a:xfrm>
          <a:prstGeom prst="roundRect">
            <a:avLst>
              <a:gd name="adj" fmla="val 8000"/>
            </a:avLst>
          </a:prstGeom>
          <a:solidFill>
            <a:srgbClr val="FBECEF"/>
          </a:solidFill>
          <a:ln w="12700">
            <a:solidFill>
              <a:srgbClr val="D8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03920" y="3529584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Logloss</a:t>
            </a:r>
            <a:r>
              <a:rPr sz="12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概率校准</a:t>
            </a:r>
            <a:endParaRPr sz="12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↓ 越小越好</a:t>
            </a:r>
            <a:endParaRPr sz="1200" b="1">
              <a:solidFill>
                <a:srgbClr val="D766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4892040"/>
            <a:ext cx="10908792" cy="1051560"/>
          </a:xfrm>
          <a:prstGeom prst="roundRect">
            <a:avLst>
              <a:gd name="adj" fmla="val 6000"/>
            </a:avLst>
          </a:prstGeom>
          <a:solidFill>
            <a:srgbClr val="EDF0F7"/>
          </a:solidFill>
          <a:ln w="1524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80" y="5157470"/>
            <a:ext cx="2926080" cy="5664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建模目标</a:t>
            </a:r>
            <a:endParaRPr sz="20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端到端学习映射 f</a:t>
            </a:r>
            <a:r>
              <a:rPr sz="865" b="0" baseline="-2500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θ</a:t>
            </a:r>
            <a:endParaRPr sz="865" b="0" baseline="-2500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29" name="Picture 28" descr="formula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5106035"/>
            <a:ext cx="6812280" cy="6330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研究动机：从“能融合”到“会选择”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3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83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短视频物品天然具备多模态描述：标题文本、封面图像、结构化属性与预训练 item embedding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不同 user-item 样本依赖的模态并不相同：有的由属性驱动，有的更依赖内容语义或视觉信息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直接拼接会让强模态支配预测，导致文本 / 图像 / item 等非主导模态参与不足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5230368"/>
            <a:ext cx="7955279" cy="1051560"/>
          </a:xfrm>
          <a:prstGeom prst="roundRect">
            <a:avLst>
              <a:gd name="adj" fmla="val 6000"/>
            </a:avLst>
          </a:prstGeom>
          <a:solidFill>
            <a:srgbClr val="EDF0F7"/>
          </a:solidFill>
          <a:ln w="1778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230368"/>
            <a:ext cx="109728" cy="105156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0119" y="5376672"/>
            <a:ext cx="7406640" cy="7772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本文关注的问题</a:t>
            </a:r>
            <a:endParaRPr sz="14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在 DIN 用户兴趣建模的基础上，如何进行样本级个性化模态选择，并缓解门控过度集中于强模态的“坍缩”现象？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823960" y="5285232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CF0FA"/>
          </a:solidFill>
          <a:ln w="15240">
            <a:solidFill>
              <a:srgbClr val="536C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23960" y="528523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Target-aware Interest</a:t>
            </a:r>
            <a:endParaRPr sz="1150" b="1">
              <a:solidFill>
                <a:srgbClr val="536CB4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823960" y="5806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15240">
            <a:solidFill>
              <a:srgbClr val="3E8C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3960" y="5806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Personalized Gate</a:t>
            </a:r>
            <a:endParaRPr sz="115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t="14919" b="23279"/>
          <a:stretch>
            <a:fillRect/>
          </a:stretch>
        </p:blipFill>
        <p:spPr>
          <a:xfrm>
            <a:off x="1732915" y="2008505"/>
            <a:ext cx="9179560" cy="31934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方法总览：ACMF-PMG-DIN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4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pic>
        <p:nvPicPr>
          <p:cNvPr id="8" name="Picture 7" descr="acmf_pmg_din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39" y="1143000"/>
            <a:ext cx="6949440" cy="5212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98280" y="141732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98280" y="1417320"/>
            <a:ext cx="91440" cy="1051560"/>
          </a:xfrm>
          <a:prstGeom prst="rect">
            <a:avLst/>
          </a:prstGeom>
          <a:solidFill>
            <a:srgbClr val="53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0" y="1527048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① DIN 目标注意力</a:t>
            </a:r>
            <a:endParaRPr sz="1300" b="1">
              <a:solidFill>
                <a:srgbClr val="536CB4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按候选物品聚合历史兴趣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098280" y="2624328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98280" y="2624328"/>
            <a:ext cx="91440" cy="105156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26880" y="2734056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② 个性化模态门控</a:t>
            </a:r>
            <a:endParaRPr sz="130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样本级模态权重 + 先验平滑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98280" y="3831336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098280" y="3831336"/>
            <a:ext cx="91440" cy="105156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0" y="3941064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③ 早期融合主路径</a:t>
            </a:r>
            <a:endParaRPr sz="13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加权多模态 → DNN → 主 logit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98280" y="5038344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98280" y="5038344"/>
            <a:ext cx="91440" cy="1051560"/>
          </a:xfrm>
          <a:prstGeom prst="rect">
            <a:avLst/>
          </a:prstGeom>
          <a:solidFill>
            <a:srgbClr val="CF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0" y="5148072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CF844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④ ACMF 抗坍缩融合</a:t>
            </a:r>
            <a:endParaRPr sz="1300" b="1">
              <a:solidFill>
                <a:srgbClr val="CF844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MDS 深监督 + ELF 晚期融合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35813"/>
            <a:ext cx="128016" cy="475488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480949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模块一：个性化模态门控与先验平滑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21029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110056"/>
            <a:ext cx="2926080" cy="4572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521399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552565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5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409565"/>
            <a:ext cx="10908792" cy="100584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 w="17780">
            <a:solidFill>
              <a:srgbClr val="3E8C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409565"/>
            <a:ext cx="109728" cy="100584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19" y="5551742"/>
            <a:ext cx="10360152" cy="739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为什么需要先验平滑？</a:t>
            </a:r>
            <a:endParaRPr sz="140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验证集实测：个性化门控几乎完全压到属性模态（权重≈1.0）；先验平滑后属性降到约 0.625，文本 / 图像 / item 各保留约 0.125 的参与度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8936" b="7537"/>
          <a:stretch>
            <a:fillRect/>
          </a:stretch>
        </p:blipFill>
        <p:spPr>
          <a:xfrm>
            <a:off x="1525905" y="1226185"/>
            <a:ext cx="8745855" cy="4112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CF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模块二：ACMF 抗坍缩多模态融合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CF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6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BF2E8"/>
          </a:solidFill>
          <a:ln w="17780">
            <a:solidFill>
              <a:srgbClr val="CF8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349240"/>
            <a:ext cx="109728" cy="914400"/>
          </a:xfrm>
          <a:prstGeom prst="rect">
            <a:avLst/>
          </a:prstGeom>
          <a:solidFill>
            <a:srgbClr val="CF8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19" y="5445697"/>
            <a:ext cx="10360152" cy="739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F8442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核心作用</a:t>
            </a:r>
            <a:endParaRPr sz="1400" b="1">
              <a:solidFill>
                <a:srgbClr val="CF8442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MDS 为每个模态提供独立的监督梯度；ELF 以可学习的 α 加权，把单模态 logit 作为轻量 late 分支叠加到主路径——二者组合缓解非主导模态的边缘化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rcRect t="11499"/>
          <a:stretch>
            <a:fillRect/>
          </a:stretch>
        </p:blipFill>
        <p:spPr>
          <a:xfrm>
            <a:off x="1835150" y="1083945"/>
            <a:ext cx="8610600" cy="4184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实验设置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7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400800" cy="475488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6400800" cy="457200"/>
          </a:xfrm>
          <a:prstGeom prst="roundRect">
            <a:avLst>
              <a:gd name="adj" fmla="val 5000"/>
            </a:avLst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6400800" cy="22860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1252728"/>
            <a:ext cx="6035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训练配置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22960" y="1847088"/>
            <a:ext cx="6035040" cy="443484"/>
          </a:xfrm>
          <a:prstGeom prst="rect">
            <a:avLst/>
          </a:prstGeom>
          <a:solidFill>
            <a:srgbClr val="E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1847088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训练 / 验证集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1847088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360 万条 / 1 万条 (MicroLens-1M_x1)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688" y="2290572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任务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1880" y="2290572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Task2 · CTR 预测 (pCTR)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" y="2734056"/>
            <a:ext cx="6035040" cy="443484"/>
          </a:xfrm>
          <a:prstGeom prst="rect">
            <a:avLst/>
          </a:prstGeom>
          <a:solidFill>
            <a:srgbClr val="E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2688" y="2734056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历史序列长度上限 T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1880" y="2734056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64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3177539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优化器 / 学习率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3177539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Adam / 0.001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960" y="3621023"/>
            <a:ext cx="6035040" cy="443484"/>
          </a:xfrm>
          <a:prstGeom prst="rect">
            <a:avLst/>
          </a:prstGeom>
          <a:solidFill>
            <a:srgbClr val="E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3621023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Batch size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3621023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1024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2688" y="4064507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最大 epoch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11880" y="4064507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100 (配合 early stopping)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4507992"/>
            <a:ext cx="6035040" cy="443484"/>
          </a:xfrm>
          <a:prstGeom prst="rect">
            <a:avLst/>
          </a:prstGeom>
          <a:solidFill>
            <a:srgbClr val="E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2688" y="4507992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Early stopping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11880" y="4507992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patience = 3，监控验证集 AUC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32688" y="4951476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硬件环境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11880" y="4951476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单张 NVIDIA RTX 4090 (24GB)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" y="5394960"/>
            <a:ext cx="6035040" cy="443484"/>
          </a:xfrm>
          <a:prstGeom prst="rect">
            <a:avLst/>
          </a:prstGeom>
          <a:solidFill>
            <a:srgbClr val="ED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32688" y="5394960"/>
            <a:ext cx="265176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评价指标</a:t>
            </a:r>
            <a:endParaRPr sz="12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11880" y="5394960"/>
            <a:ext cx="3154680" cy="4434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(排序) · Logloss (校准)</a:t>
            </a:r>
            <a:endParaRPr sz="12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269480" y="1234440"/>
            <a:ext cx="4279392" cy="475488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269480" y="1234440"/>
            <a:ext cx="4279392" cy="457200"/>
          </a:xfrm>
          <a:prstGeom prst="roundRect">
            <a:avLst>
              <a:gd name="adj" fmla="val 5000"/>
            </a:avLst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269480" y="1463040"/>
            <a:ext cx="4279392" cy="228600"/>
          </a:xfrm>
          <a:prstGeom prst="rect">
            <a:avLst/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52360" y="1252728"/>
            <a:ext cx="3913631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对比模型 · 递进关系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98079" y="196596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9050">
            <a:solidFill>
              <a:srgbClr val="536CB4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98079" y="1965960"/>
            <a:ext cx="109728" cy="1051560"/>
          </a:xfrm>
          <a:prstGeom prst="rect">
            <a:avLst/>
          </a:prstGeom>
          <a:solidFill>
            <a:srgbClr val="53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726679" y="20574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PMG-DIN</a:t>
            </a:r>
            <a:endParaRPr sz="1400" b="1">
              <a:solidFill>
                <a:srgbClr val="536CB4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个性化模态门控基线</a:t>
            </a:r>
            <a:endParaRPr sz="11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0.9812 / Logloss 0.1847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525384" y="311759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36CB4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▼</a:t>
            </a:r>
            <a:endParaRPr sz="1300" b="1">
              <a:solidFill>
                <a:srgbClr val="536CB4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498079" y="333756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9050">
            <a:solidFill>
              <a:srgbClr val="3E8C77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498079" y="3337560"/>
            <a:ext cx="109728" cy="105156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726679" y="34290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PS-PMG-DIN</a:t>
            </a:r>
            <a:endParaRPr sz="140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 先验平滑，抑制门控坍缩</a:t>
            </a:r>
            <a:endParaRPr sz="11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0.9820 / Logloss 0.1559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25384" y="448919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▼</a:t>
            </a:r>
            <a:endParaRPr sz="1300" b="1">
              <a:solidFill>
                <a:srgbClr val="3E8C77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498079" y="4709160"/>
            <a:ext cx="3840480" cy="1051560"/>
          </a:xfrm>
          <a:prstGeom prst="roundRect">
            <a:avLst>
              <a:gd name="adj" fmla="val 8000"/>
            </a:avLst>
          </a:prstGeom>
          <a:solidFill>
            <a:srgbClr val="FCFDFF"/>
          </a:solidFill>
          <a:ln w="19050">
            <a:solidFill>
              <a:srgbClr val="D76677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98079" y="4709160"/>
            <a:ext cx="109728" cy="1051560"/>
          </a:xfrm>
          <a:prstGeom prst="rect">
            <a:avLst/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726679" y="48006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ACMF-PMG-DIN</a:t>
            </a:r>
            <a:endParaRPr sz="1400" b="1">
              <a:solidFill>
                <a:srgbClr val="D766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+ MDS + ELF (最终主模型)</a:t>
            </a:r>
            <a:endParaRPr sz="11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0.9826 / Logloss 0.1547</a:t>
            </a:r>
            <a:endParaRPr sz="110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主实验结果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8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pic>
        <p:nvPicPr>
          <p:cNvPr id="8" name="Picture 7" descr="acmf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46" y="1234440"/>
            <a:ext cx="9028058" cy="3429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4864608"/>
            <a:ext cx="10908792" cy="1417320"/>
          </a:xfrm>
          <a:prstGeom prst="roundRect">
            <a:avLst>
              <a:gd name="adj" fmla="val 5000"/>
            </a:avLst>
          </a:prstGeom>
          <a:solidFill>
            <a:srgbClr val="EDF0F7"/>
          </a:solidFill>
          <a:ln w="1778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4864608"/>
            <a:ext cx="109728" cy="14173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19" y="5010912"/>
            <a:ext cx="10314432" cy="1078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结论</a:t>
            </a:r>
            <a:endParaRPr sz="14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相对 PMG-DIN：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+0.001429，Logloss −0.029949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相对 PS-PMG-DIN：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AUC +0.000689，Logloss −0.001158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ACMF-PMG-DIN 在保持高排序能力的同时进一步改善概率校准，两项指标同步提升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组件消融：为什么采用 MDS + ELF？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9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537960" cy="4754880"/>
          </a:xfrm>
          <a:prstGeom prst="roundRect">
            <a:avLst>
              <a:gd name="adj" fmla="val 3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Picture 8" descr="acmf_component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74"/>
            <a:ext cx="6263640" cy="429761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06640" y="1234440"/>
            <a:ext cx="4142232" cy="4754880"/>
          </a:xfrm>
          <a:prstGeom prst="roundRect">
            <a:avLst>
              <a:gd name="adj" fmla="val 5000"/>
            </a:avLst>
          </a:prstGeom>
          <a:solidFill>
            <a:srgbClr val="EDF0F7"/>
          </a:solidFill>
          <a:ln w="1778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06640" y="1234440"/>
            <a:ext cx="109728" cy="475488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79" y="1380744"/>
            <a:ext cx="3547872" cy="33108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5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关键观察</a:t>
            </a:r>
            <a:endParaRPr sz="14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MDS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提升 AUC，但单独使用会推高 Logloss（概率过度自信）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• ELF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需要 MDS 稳定支撑；二者结合后 late 分支成为稳定的轻量补充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 最终采用 MDS + ELF</a:t>
            </a:r>
            <a:r>
              <a:rPr sz="135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，而非 FULL；MDrop 在本数据上正则偏强</a:t>
            </a:r>
            <a:endParaRPr sz="135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indent="0" fontAlgn="auto">
              <a:lnSpc>
                <a:spcPct val="150000"/>
              </a:lnSpc>
              <a:spcAft>
                <a:spcPts val="400"/>
              </a:spcAft>
            </a:pPr>
            <a:r>
              <a:rPr sz="1250" b="0">
                <a:solidFill>
                  <a:srgbClr val="6B6F7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图中左上绿色区域为更优方向（低 Logloss + 高 AUC），ACMF-MDS-ELF 位于该区域且更靠近 Pareto 前沿</a:t>
            </a:r>
            <a:endParaRPr sz="1250" b="0">
              <a:solidFill>
                <a:srgbClr val="6B6F7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模态贡献分析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10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pic>
        <p:nvPicPr>
          <p:cNvPr id="8" name="Picture 7" descr="acmf_modality_ablati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663" y="1234440"/>
            <a:ext cx="9389625" cy="3611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FBECEF"/>
          </a:solidFill>
          <a:ln w="17780">
            <a:solidFill>
              <a:srgbClr val="D766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029200"/>
            <a:ext cx="109728" cy="1234440"/>
          </a:xfrm>
          <a:prstGeom prst="rect">
            <a:avLst/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19" y="5285677"/>
            <a:ext cx="10360152" cy="739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结论</a:t>
            </a:r>
            <a:endParaRPr sz="1400" b="1">
              <a:solidFill>
                <a:srgbClr val="D7667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去掉属性模态后 AUC 与 Logloss 均急剧恶化 —— 属性是当前数据集最关键的判别信号；移除文本 / 图像主要影响 Logloss，说明二者更多体现在概率校准层面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模型分析：门控分布与晚期融合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11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188720"/>
            <a:ext cx="5074920" cy="3657600"/>
          </a:xfrm>
          <a:prstGeom prst="roundRect">
            <a:avLst>
              <a:gd name="adj" fmla="val 3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9" name="Picture 8" descr="acmf_gate_distribution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107" y="1298448"/>
            <a:ext cx="3610865" cy="3429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97880" y="1188720"/>
            <a:ext cx="5650992" cy="3657600"/>
          </a:xfrm>
          <a:prstGeom prst="roundRect">
            <a:avLst>
              <a:gd name="adj" fmla="val 3000"/>
            </a:avLst>
          </a:prstGeom>
          <a:solidFill>
            <a:srgbClr val="FCFDFF"/>
          </a:solidFill>
          <a:ln w="1397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11" name="Picture 10" descr="acmf_late_fusion_weights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0712"/>
            <a:ext cx="5394960" cy="311361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5029200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EDF0F7"/>
          </a:solidFill>
          <a:ln w="1778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5029200"/>
            <a:ext cx="109728" cy="123444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19" y="5285677"/>
            <a:ext cx="10360152" cy="739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综合判断</a:t>
            </a:r>
            <a:endParaRPr sz="14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先验平滑使 fused gate 从“属性独占”变为“属性主导 + 其余模态保留”；late fusion 权重较均衡且 α 较小，说明该分支只做轻量修正，点击信号仍主要由 DIN 兴趣与主路径承载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128016" cy="47548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329184"/>
            <a:ext cx="87782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总结与讨论</a:t>
            </a:r>
            <a:endParaRPr sz="26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9264"/>
            <a:ext cx="11057839" cy="25603"/>
          </a:xfrm>
          <a:prstGeom prst="rect">
            <a:avLst/>
          </a:prstGeom>
          <a:solidFill>
            <a:srgbClr val="D8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958291"/>
            <a:ext cx="2926080" cy="45720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6" name="Picture 5" descr="logo_tongj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69634"/>
            <a:ext cx="1234440" cy="339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11535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0AE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12 / 13</a:t>
            </a:r>
            <a:endParaRPr sz="1050" b="0">
              <a:solidFill>
                <a:srgbClr val="9AA0AE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440680" cy="379476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440680" cy="457200"/>
          </a:xfrm>
          <a:prstGeom prst="roundRect">
            <a:avLst>
              <a:gd name="adj" fmla="val 5000"/>
            </a:avLst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5440680" cy="228600"/>
          </a:xfrm>
          <a:prstGeom prst="rect">
            <a:avLst/>
          </a:prstGeom>
          <a:solidFill>
            <a:srgbClr val="3E8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1252728"/>
            <a:ext cx="5074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主要结论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4937760" cy="17614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围绕“兴趣建模 + 模态选择 + 抗坍缩融合”三点递进设计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最终模型在 AUC 与 Logloss 上均优于 PMG-DIN 与 PS-PMG-DIN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MDS 与 ELF 互补：MDS 增强排序，ELF 在其约束下稳定补充主路径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E8C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属性是强判别信号，文本 / 图像更多体现在概率校准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5239512" cy="3794760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5240">
            <a:solidFill>
              <a:srgbClr val="D8DCE8"/>
            </a:solidFill>
          </a:ln>
          <a:effectLst>
            <a:outerShdw blurRad="60000" dist="20000" dir="5400000" rotWithShape="0">
              <a:srgbClr val="9AA6BF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1234440"/>
            <a:ext cx="5239512" cy="457200"/>
          </a:xfrm>
          <a:prstGeom prst="roundRect">
            <a:avLst>
              <a:gd name="adj" fmla="val 5000"/>
            </a:avLst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239512" cy="228600"/>
          </a:xfrm>
          <a:prstGeom prst="rect">
            <a:avLst/>
          </a:prstGeom>
          <a:solidFill>
            <a:srgbClr val="D76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1252728"/>
            <a:ext cx="487375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局限与后续工作</a:t>
            </a:r>
            <a:endParaRPr sz="1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754880" cy="13023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单模态 logit 并非强独立分类器，ACMF 更像轻量辅助机制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仍以 DIN 为序列建模主干，未引入更强的序列模型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可进一步研究更稳定的多模态兴趣提取与跨数据集泛化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D7667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▪  </a:t>
            </a: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当前结论主要基于 MicroLens-1M 验证集，需更多数据验证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5230368"/>
            <a:ext cx="10908792" cy="1024128"/>
          </a:xfrm>
          <a:prstGeom prst="roundRect">
            <a:avLst>
              <a:gd name="adj" fmla="val 6000"/>
            </a:avLst>
          </a:prstGeom>
          <a:solidFill>
            <a:srgbClr val="EDF0F7"/>
          </a:solidFill>
          <a:ln w="17780">
            <a:solidFill>
              <a:srgbClr val="1636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5230368"/>
            <a:ext cx="109728" cy="1024128"/>
          </a:xfrm>
          <a:prstGeom prst="rect">
            <a:avLst/>
          </a:prstGeom>
          <a:solidFill>
            <a:srgbClr val="16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19" y="5493766"/>
            <a:ext cx="10360152" cy="515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6366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最终提交</a:t>
            </a:r>
            <a:endParaRPr sz="1400" b="1">
              <a:solidFill>
                <a:srgbClr val="16366B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A2E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ACMF-PMG-DIN (MDS+ELF)：验证集 AUC 0.9826 / Logloss 0.1547；Codabench 测试集 AUC 0.9853，Task2 排行榜第 13 名</a:t>
            </a:r>
            <a:endParaRPr sz="1300" b="0">
              <a:solidFill>
                <a:srgbClr val="2A2E37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040" y="5403850"/>
            <a:ext cx="7088505" cy="3581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3063240"/>
            <a:ext cx="12191695" cy="45720"/>
          </a:xfrm>
          <a:prstGeom prst="rect">
            <a:avLst/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100000">
                <a:srgbClr val="F5C5D6"/>
              </a:gs>
              <a:gs pos="0">
                <a:srgbClr val="9A97E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50825" y="214884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chemeClr val="tx2"/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谢谢观看</a:t>
            </a:r>
            <a:endParaRPr sz="4000" b="1">
              <a:solidFill>
                <a:schemeClr val="tx2"/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353435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欢迎提问与讨论  ·  ACMF-PMG-DIN for Multimodal CTR Prediction</a:t>
            </a:r>
            <a:endParaRPr sz="1500" b="0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2459</Words>
  <Application>WPS 演示</Application>
  <PresentationFormat>On-screen Show (4:3)</PresentationFormat>
  <Paragraphs>205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华文中宋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于庆学</cp:lastModifiedBy>
  <cp:revision>4</cp:revision>
  <dcterms:created xsi:type="dcterms:W3CDTF">2013-01-27T09:14:00Z</dcterms:created>
  <dcterms:modified xsi:type="dcterms:W3CDTF">2026-07-02T15:00:01Z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C52555450EEC4914BF36616D1DFA0706_12</vt:lpwstr>
  </property>
  <property fmtid="{D5CDD505-2E9C-101B-9397-08002B2CF9AE}" pid="3" name="KSOProductBuildVer">
    <vt:lpwstr>2052-12.1.0.26895</vt:lpwstr>
  </property>
</Properties>
</file>